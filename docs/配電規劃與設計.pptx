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569E0-04C1-4392-AF18-A14E97EA0F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B6A68E-87F7-4913-A530-EC9A9F2477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83E15B-C182-4650-9B20-CC7624D167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D1E9EA-54FB-427F-9D80-0C6D696BC3F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84FB53-5AE8-4F3F-B846-23BA9DDAA9F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B4352E-3DC7-4329-9687-B86B952FA6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6F07AB-17DE-4C0A-8ABB-32DED593DC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9F27CD-57F9-4AEC-9C9E-0CFC69831C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75DB6A-DA42-4E33-844B-5C3229C039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82CAFF-82AC-43E5-B746-DA6C52FD44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1001A7-36AE-4F75-9DFA-C0F82584FB5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2E7612-DA53-43A5-9186-8022062C04E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4F6678-D53F-4FC6-8D3F-B405C3C4BDA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822960" y="2514600"/>
            <a:ext cx="10515240" cy="15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5000"/>
              </a:lnSpc>
              <a:spcAft>
                <a:spcPts val="201"/>
              </a:spcAft>
              <a:buNone/>
            </a:pPr>
            <a:r>
              <a:rPr b="1" lang="zh-CN" sz="4400" spc="-1" strike="noStrike">
                <a:solidFill>
                  <a:srgbClr val="1a1a1a"/>
                </a:solidFill>
                <a:latin typeface="Arial"/>
                <a:ea typeface="Microsoft JhengHei"/>
              </a:rPr>
              <a:t>機器人整機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15000"/>
              </a:lnSpc>
              <a:spcAft>
                <a:spcPts val="201"/>
              </a:spcAft>
              <a:buNone/>
            </a:pPr>
            <a:r>
              <a:rPr b="1" lang="zh-CN" sz="4400" spc="-1" strike="noStrike">
                <a:solidFill>
                  <a:srgbClr val="1a1a1a"/>
                </a:solidFill>
                <a:latin typeface="Arial"/>
                <a:ea typeface="Microsoft JhengHei"/>
              </a:rPr>
              <a:t>配電規劃與設計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822960" y="4617720"/>
            <a:ext cx="10515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5000"/>
              </a:lnSpc>
              <a:spcAft>
                <a:spcPts val="400"/>
              </a:spcAft>
              <a:buNone/>
            </a:pPr>
            <a:r>
              <a:rPr b="0" lang="en-US" sz="1200" spc="-1" strike="noStrike">
                <a:solidFill>
                  <a:srgbClr val="5a5a5a"/>
                </a:solidFill>
                <a:latin typeface="Arial"/>
                <a:ea typeface="Microsoft JhengHei"/>
              </a:rPr>
              <a:t>2026-07-28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567000" y="311040"/>
            <a:ext cx="1106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3000" spc="-1" strike="noStrike">
                <a:solidFill>
                  <a:srgbClr val="1a1a1a"/>
                </a:solidFill>
                <a:latin typeface="Arial"/>
                <a:ea typeface="Microsoft JhengHei"/>
              </a:rPr>
              <a:t>系統架構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4" name="Rounded Rectangle 2"/>
          <p:cNvSpPr/>
          <p:nvPr/>
        </p:nvSpPr>
        <p:spPr>
          <a:xfrm>
            <a:off x="1417320" y="1417320"/>
            <a:ext cx="2651400" cy="566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bfbf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電池 </a:t>
            </a: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7S 18650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24V 30Ah</a:t>
            </a: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・內建 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BMS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5" name="Right Arrow 3"/>
          <p:cNvSpPr/>
          <p:nvPr/>
        </p:nvSpPr>
        <p:spPr>
          <a:xfrm>
            <a:off x="4206240" y="1591200"/>
            <a:ext cx="45684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6" name="Rounded Rectangle 4"/>
          <p:cNvSpPr/>
          <p:nvPr/>
        </p:nvSpPr>
        <p:spPr>
          <a:xfrm>
            <a:off x="4800600" y="1417320"/>
            <a:ext cx="2194200" cy="566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bfbf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XT60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主隔離・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30A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7" name="Right Arrow 5"/>
          <p:cNvSpPr/>
          <p:nvPr/>
        </p:nvSpPr>
        <p:spPr>
          <a:xfrm>
            <a:off x="7132320" y="1591200"/>
            <a:ext cx="456840" cy="2192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48" name="Rounded Rectangle 6"/>
          <p:cNvSpPr/>
          <p:nvPr/>
        </p:nvSpPr>
        <p:spPr>
          <a:xfrm>
            <a:off x="7726680" y="1417320"/>
            <a:ext cx="2651400" cy="566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bfbf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F1 25A 刀片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嵌入式座・ATO 快熔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endParaRPr b="0" lang="en-US" sz="900" spc="-1" strike="noStrike">
              <a:latin typeface="Arial"/>
            </a:endParaRPr>
          </a:p>
        </p:txBody>
      </p:sp>
      <p:sp>
        <p:nvSpPr>
          <p:cNvPr id="49" name="Connector 7"/>
          <p:cNvSpPr/>
          <p:nvPr/>
        </p:nvSpPr>
        <p:spPr>
          <a:xfrm>
            <a:off x="9052560" y="1983960"/>
            <a:ext cx="360" cy="576360"/>
          </a:xfrm>
          <a:prstGeom prst="line">
            <a:avLst/>
          </a:prstGeom>
          <a:ln w="15875">
            <a:solidFill>
              <a:srgbClr val="5a5a5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p/>
        </p:txBody>
      </p:sp>
      <p:sp>
        <p:nvSpPr>
          <p:cNvPr id="50" name="Connector 8"/>
          <p:cNvSpPr/>
          <p:nvPr/>
        </p:nvSpPr>
        <p:spPr>
          <a:xfrm>
            <a:off x="3108960" y="2286000"/>
            <a:ext cx="5943600" cy="360"/>
          </a:xfrm>
          <a:prstGeom prst="line">
            <a:avLst/>
          </a:prstGeom>
          <a:ln w="15875">
            <a:solidFill>
              <a:srgbClr val="5a5a5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p/>
        </p:txBody>
      </p:sp>
      <p:sp>
        <p:nvSpPr>
          <p:cNvPr id="51" name="Connector 9"/>
          <p:cNvSpPr/>
          <p:nvPr/>
        </p:nvSpPr>
        <p:spPr>
          <a:xfrm>
            <a:off x="3108960" y="2286000"/>
            <a:ext cx="360" cy="274320"/>
          </a:xfrm>
          <a:prstGeom prst="line">
            <a:avLst/>
          </a:prstGeom>
          <a:ln w="15875">
            <a:solidFill>
              <a:srgbClr val="5a5a5a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  <p:txBody>
          <a:bodyPr/>
          <a:p/>
        </p:txBody>
      </p:sp>
      <p:sp>
        <p:nvSpPr>
          <p:cNvPr id="52" name="TextBox 10"/>
          <p:cNvSpPr/>
          <p:nvPr/>
        </p:nvSpPr>
        <p:spPr>
          <a:xfrm>
            <a:off x="567000" y="261504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1200" spc="-1" strike="noStrike">
                <a:solidFill>
                  <a:srgbClr val="1a1a1a"/>
                </a:solidFill>
                <a:latin typeface="Arial"/>
                <a:ea typeface="Microsoft JhengHei"/>
              </a:rPr>
              <a:t>動力分支　12 AWG</a:t>
            </a: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3" name="TextBox 11"/>
          <p:cNvSpPr/>
          <p:nvPr/>
        </p:nvSpPr>
        <p:spPr>
          <a:xfrm>
            <a:off x="6492240" y="2615040"/>
            <a:ext cx="51202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1200" spc="-1" strike="noStrike">
                <a:solidFill>
                  <a:srgbClr val="1a1a1a"/>
                </a:solidFill>
                <a:latin typeface="Arial"/>
                <a:ea typeface="Microsoft JhengHei"/>
              </a:rPr>
              <a:t>電子分支　</a:t>
            </a: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Microsoft JhengHei"/>
              </a:rPr>
              <a:t>16 AWG </a:t>
            </a:r>
            <a:r>
              <a:rPr b="1" lang="zh-CN" sz="1200" spc="-1" strike="noStrike">
                <a:solidFill>
                  <a:srgbClr val="1a1a1a"/>
                </a:solidFill>
                <a:latin typeface="Arial"/>
                <a:ea typeface="Microsoft JhengHei"/>
              </a:rPr>
              <a:t>／ </a:t>
            </a:r>
            <a:r>
              <a:rPr b="1" lang="en-US" sz="1200" spc="-1" strike="noStrike">
                <a:solidFill>
                  <a:srgbClr val="1a1a1a"/>
                </a:solidFill>
                <a:latin typeface="Arial"/>
                <a:ea typeface="Microsoft JhengHei"/>
              </a:rPr>
              <a:t>F2 7.5A ATO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54" name="Rounded Rectangle 12"/>
          <p:cNvSpPr/>
          <p:nvPr/>
        </p:nvSpPr>
        <p:spPr>
          <a:xfrm>
            <a:off x="567000" y="2999160"/>
            <a:ext cx="5120280" cy="566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bfbf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C1 1000µF / D1 SMCJ30A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並聯於  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+24V 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5" name="Rounded Rectangle 13"/>
          <p:cNvSpPr/>
          <p:nvPr/>
        </p:nvSpPr>
        <p:spPr>
          <a:xfrm>
            <a:off x="6492240" y="2999160"/>
            <a:ext cx="5120280" cy="566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bfbf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XL4016 → 12.0V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實際持續 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5A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6" name="Down Arrow 14"/>
          <p:cNvSpPr/>
          <p:nvPr/>
        </p:nvSpPr>
        <p:spPr>
          <a:xfrm>
            <a:off x="2962800" y="362088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7" name="Down Arrow 15"/>
          <p:cNvSpPr/>
          <p:nvPr/>
        </p:nvSpPr>
        <p:spPr>
          <a:xfrm>
            <a:off x="8888040" y="362088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58" name="Rounded Rectangle 16"/>
          <p:cNvSpPr/>
          <p:nvPr/>
        </p:nvSpPr>
        <p:spPr>
          <a:xfrm>
            <a:off x="567000" y="3986640"/>
            <a:ext cx="5120280" cy="566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bfbf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AGV-BLD-2S → </a:t>
            </a:r>
            <a:r>
              <a:rPr b="1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左右輪 </a:t>
            </a: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BLDC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連續 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200W</a:t>
            </a: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・峰值 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19A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9" name="Rounded Rectangle 17"/>
          <p:cNvSpPr/>
          <p:nvPr/>
        </p:nvSpPr>
        <p:spPr>
          <a:xfrm>
            <a:off x="6492240" y="3986640"/>
            <a:ext cx="5120280" cy="566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bfbf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Jetson Orin NX</a:t>
            </a:r>
            <a:r>
              <a:rPr b="1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（</a:t>
            </a: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25W </a:t>
            </a:r>
            <a:r>
              <a:rPr b="1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模式）</a:t>
            </a:r>
            <a:endParaRPr b="0" lang="en-US" sz="1050" spc="-1" strike="noStrike">
              <a:latin typeface="Arial"/>
            </a:endParaRPr>
          </a:p>
          <a:p>
            <a:pPr algn="ctr">
              <a:lnSpc>
                <a:spcPct val="110000"/>
              </a:lnSpc>
              <a:buNone/>
            </a:pP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LiDAR</a:t>
            </a: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・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IMU</a:t>
            </a:r>
            <a:r>
              <a:rPr b="0" lang="zh-CN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・</a:t>
            </a:r>
            <a:r>
              <a:rPr b="0" lang="en-US" sz="900" spc="-1" strike="noStrike">
                <a:solidFill>
                  <a:srgbClr val="1a1a1a"/>
                </a:solidFill>
                <a:latin typeface="Arial"/>
                <a:ea typeface="Microsoft JhengHei"/>
              </a:rPr>
              <a:t>Nav2 / SLAM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0" name="Up Arrow 18"/>
          <p:cNvSpPr/>
          <p:nvPr/>
        </p:nvSpPr>
        <p:spPr>
          <a:xfrm>
            <a:off x="2962800" y="4608720"/>
            <a:ext cx="319680" cy="255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0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1" name="Down Arrow 19"/>
          <p:cNvSpPr/>
          <p:nvPr/>
        </p:nvSpPr>
        <p:spPr>
          <a:xfrm>
            <a:off x="8888040" y="4608720"/>
            <a:ext cx="319680" cy="255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5a5a5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62" name="Rounded Rectangle 20"/>
          <p:cNvSpPr/>
          <p:nvPr/>
        </p:nvSpPr>
        <p:spPr>
          <a:xfrm>
            <a:off x="567000" y="4974480"/>
            <a:ext cx="5120280" cy="529920"/>
          </a:xfrm>
          <a:prstGeom prst="roundRect">
            <a:avLst>
              <a:gd name="adj" fmla="val 12000"/>
            </a:avLst>
          </a:prstGeom>
          <a:solidFill>
            <a:srgbClr val="fdf0f0"/>
          </a:solidFill>
          <a:ln>
            <a:solidFill>
              <a:srgbClr val="c01a1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050" spc="-1" strike="noStrike">
                <a:solidFill>
                  <a:srgbClr val="c01a1a"/>
                </a:solidFill>
                <a:latin typeface="Arial"/>
                <a:ea typeface="Microsoft JhengHei"/>
              </a:rPr>
              <a:t>E-stop → CN4 pin1</a:t>
            </a:r>
            <a:r>
              <a:rPr b="1" lang="zh-CN" sz="1050" spc="-1" strike="noStrike">
                <a:solidFill>
                  <a:srgbClr val="c01a1a"/>
                </a:solidFill>
                <a:latin typeface="Arial"/>
                <a:ea typeface="Microsoft JhengHei"/>
              </a:rPr>
              <a:t>（</a:t>
            </a:r>
            <a:r>
              <a:rPr b="1" lang="en-US" sz="1050" spc="-1" strike="noStrike">
                <a:solidFill>
                  <a:srgbClr val="c01a1a"/>
                </a:solidFill>
                <a:latin typeface="Arial"/>
                <a:ea typeface="Microsoft JhengHei"/>
              </a:rPr>
              <a:t>X0 </a:t>
            </a:r>
            <a:r>
              <a:rPr b="1" lang="zh-CN" sz="1050" spc="-1" strike="noStrike">
                <a:solidFill>
                  <a:srgbClr val="c01a1a"/>
                </a:solidFill>
                <a:latin typeface="Arial"/>
                <a:ea typeface="Microsoft JhengHei"/>
              </a:rPr>
              <a:t>使能）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3" name="Rounded Rectangle 21"/>
          <p:cNvSpPr/>
          <p:nvPr/>
        </p:nvSpPr>
        <p:spPr>
          <a:xfrm>
            <a:off x="6492240" y="4974480"/>
            <a:ext cx="5120280" cy="529920"/>
          </a:xfrm>
          <a:prstGeom prst="roundRect">
            <a:avLst>
              <a:gd name="adj" fmla="val 12000"/>
            </a:avLst>
          </a:prstGeom>
          <a:solidFill>
            <a:srgbClr val="e9fbf6"/>
          </a:solidFill>
          <a:ln>
            <a:solidFill>
              <a:srgbClr val="1fe3b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0760" rIns="50760" tIns="25560" bIns="2556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1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USB → Pico 2 W → 3V3 → HC-SR04P ×8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567000" y="311040"/>
            <a:ext cx="1106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3000" spc="-1" strike="noStrike">
                <a:solidFill>
                  <a:srgbClr val="1a1a1a"/>
                </a:solidFill>
                <a:latin typeface="Arial"/>
                <a:ea typeface="Microsoft JhengHei"/>
              </a:rPr>
              <a:t>負載與功耗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65" name="Table 2"/>
          <p:cNvGraphicFramePr/>
          <p:nvPr/>
        </p:nvGraphicFramePr>
        <p:xfrm>
          <a:off x="567000" y="1371600"/>
          <a:ext cx="5348880" cy="3254760"/>
        </p:xfrm>
        <a:graphic>
          <a:graphicData uri="http://schemas.openxmlformats.org/drawingml/2006/table">
            <a:tbl>
              <a:tblPr/>
              <a:tblGrid>
                <a:gridCol w="3200400"/>
                <a:gridCol w="2148840"/>
              </a:tblGrid>
              <a:tr h="32904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負載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功耗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Jetson 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模組・閒置（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ROS2 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全開）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實測 </a:t>
                      </a:r>
                      <a:r>
                        <a:rPr b="1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7.0W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Jetson 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模組・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CPU 8 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核滿載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實測 </a:t>
                      </a:r>
                      <a:r>
                        <a:rPr b="1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16.0W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Jetson 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系統（含載板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+ LiDAR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設計採用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35W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Pico 2 W + HC-SR04P ×8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&gt;1.5W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（經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USB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電子分支合計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36.5W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馬達驅動器・連續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@ 21V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200W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馬達驅動器・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200% 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過載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5 </a:t>
                      </a:r>
                      <a:r>
                        <a:rPr b="0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秒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400W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系統峰值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" name="TextBox 3"/>
          <p:cNvSpPr/>
          <p:nvPr/>
        </p:nvSpPr>
        <p:spPr>
          <a:xfrm>
            <a:off x="567000" y="5212080"/>
            <a:ext cx="6491880" cy="19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35W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＝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25W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（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nvpmodel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預算上限）＋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8W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（載板・估算）＋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2.5W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（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LiDAR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）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6510600" y="987480"/>
            <a:ext cx="41144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設計餘裕</a:t>
            </a:r>
            <a:endParaRPr b="0" lang="en-US" sz="1300" spc="-1" strike="noStrike">
              <a:latin typeface="Arial"/>
            </a:endParaRPr>
          </a:p>
        </p:txBody>
      </p:sp>
      <p:graphicFrame>
        <p:nvGraphicFramePr>
          <p:cNvPr id="68" name="Table 5"/>
          <p:cNvGraphicFramePr/>
          <p:nvPr/>
        </p:nvGraphicFramePr>
        <p:xfrm>
          <a:off x="6483240" y="1371600"/>
          <a:ext cx="4580640" cy="1023840"/>
        </p:xfrm>
        <a:graphic>
          <a:graphicData uri="http://schemas.openxmlformats.org/drawingml/2006/table">
            <a:tbl>
              <a:tblPr/>
              <a:tblGrid>
                <a:gridCol w="2203560"/>
                <a:gridCol w="1143000"/>
                <a:gridCol w="1234440"/>
              </a:tblGrid>
              <a:tr h="32904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情境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1" lang="zh-CN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系統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XL4016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34740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Jetson </a:t>
                      </a:r>
                      <a:r>
                        <a:rPr b="0" lang="zh-TW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系統（含載板 </a:t>
                      </a: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+ LiDAR</a:t>
                      </a:r>
                      <a:r>
                        <a:rPr b="0" lang="zh-TW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）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35W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58%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0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XL4016 (</a:t>
                      </a:r>
                      <a:r>
                        <a:rPr b="1" lang="zh-TW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沒風扇的極限</a:t>
                      </a:r>
                      <a:r>
                        <a:rPr b="1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)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60W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-1" strike="noStrike">
                          <a:solidFill>
                            <a:srgbClr val="c01a1a"/>
                          </a:solidFill>
                          <a:latin typeface="Arial"/>
                          <a:ea typeface="Microsoft JhengHei"/>
                        </a:rPr>
                        <a:t>100%</a:t>
                      </a:r>
                      <a:endParaRPr b="0" lang="en-US" sz="100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567000" y="311040"/>
            <a:ext cx="1106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3000" spc="-1" strike="noStrike">
                <a:solidFill>
                  <a:srgbClr val="1a1a1a"/>
                </a:solidFill>
                <a:latin typeface="Arial"/>
                <a:ea typeface="Microsoft JhengHei"/>
              </a:rPr>
              <a:t>配線設計：線徑・保險絲・接地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70" name="Table 2"/>
          <p:cNvGraphicFramePr/>
          <p:nvPr/>
        </p:nvGraphicFramePr>
        <p:xfrm>
          <a:off x="655200" y="2189160"/>
          <a:ext cx="5111280" cy="2377080"/>
        </p:xfrm>
        <a:graphic>
          <a:graphicData uri="http://schemas.openxmlformats.org/drawingml/2006/table">
            <a:tbl>
              <a:tblPr/>
              <a:tblGrid>
                <a:gridCol w="1553400"/>
                <a:gridCol w="1820520"/>
                <a:gridCol w="1737360"/>
              </a:tblGrid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迴路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線徑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保險絲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40212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電池主幹 → 匯流排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12 AWG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F1 25A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刀片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匯流排 → 驅動器 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CN1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12 AWG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由 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F1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保護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匯流排 → 降壓模組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16 AWG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F2 7.5A ATO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馬達 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GND →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電池負極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12 AWG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84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訊號 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GND →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電池負極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16 AWG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TextBox 3"/>
          <p:cNvSpPr/>
          <p:nvPr/>
        </p:nvSpPr>
        <p:spPr>
          <a:xfrm>
            <a:off x="655200" y="4988520"/>
            <a:ext cx="6491880" cy="67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1360" indent="-171360">
              <a:lnSpc>
                <a:spcPct val="125000"/>
              </a:lnSpc>
              <a:spcAft>
                <a:spcPts val="601"/>
              </a:spcAft>
              <a:buClr>
                <a:srgbClr val="1a1a1a"/>
              </a:buClr>
              <a:buFont typeface="Wingdings" charset="2"/>
              <a:buChar char=""/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12 AWG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對應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30A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迴路（連續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11.2A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、峰值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21A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）；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16 AWG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載流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10–13A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（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F2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對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1.7A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有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4.4×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餘裕）</a:t>
            </a:r>
            <a:endParaRPr b="0" lang="en-US" sz="1050" spc="-1" strike="noStrike">
              <a:latin typeface="Arial"/>
            </a:endParaRPr>
          </a:p>
          <a:p>
            <a:pPr marL="171360" indent="-171360">
              <a:lnSpc>
                <a:spcPct val="125000"/>
              </a:lnSpc>
              <a:spcAft>
                <a:spcPts val="601"/>
              </a:spcAft>
              <a:buClr>
                <a:srgbClr val="1a1a1a"/>
              </a:buClr>
              <a:buFont typeface="Wingdings" charset="2"/>
              <a:buChar char=""/>
            </a:pP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手冊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AWG10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為建議值；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12 AWG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連續餘裕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2.7×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、峰值壓降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0.33V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（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1.6%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）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72" name="文字方塊 9"/>
          <p:cNvSpPr/>
          <p:nvPr/>
        </p:nvSpPr>
        <p:spPr>
          <a:xfrm>
            <a:off x="8857440" y="4988520"/>
            <a:ext cx="57888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TW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原理圖</a:t>
            </a:r>
            <a:endParaRPr b="0" lang="en-US" sz="1050" spc="-1" strike="noStrike">
              <a:latin typeface="Arial"/>
            </a:endParaRPr>
          </a:p>
        </p:txBody>
      </p:sp>
      <p:pic>
        <p:nvPicPr>
          <p:cNvPr id="73" name="圖片 11" descr=""/>
          <p:cNvPicPr/>
          <p:nvPr/>
        </p:nvPicPr>
        <p:blipFill>
          <a:blip r:embed="rId1"/>
          <a:stretch/>
        </p:blipFill>
        <p:spPr>
          <a:xfrm>
            <a:off x="6095880" y="1915920"/>
            <a:ext cx="5982840" cy="302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67000" y="311040"/>
            <a:ext cx="1106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3000" spc="-1" strike="noStrike">
                <a:solidFill>
                  <a:srgbClr val="1a1a1a"/>
                </a:solidFill>
                <a:latin typeface="Arial"/>
                <a:ea typeface="Microsoft JhengHei"/>
              </a:rPr>
              <a:t>安全設計：急停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5" name="Oval 2"/>
          <p:cNvSpPr/>
          <p:nvPr/>
        </p:nvSpPr>
        <p:spPr>
          <a:xfrm>
            <a:off x="990720" y="1968480"/>
            <a:ext cx="507600" cy="507600"/>
          </a:xfrm>
          <a:prstGeom prst="ellipse">
            <a:avLst/>
          </a:prstGeom>
          <a:solidFill>
            <a:srgbClr val="1fe3b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6" name="TextBox 3"/>
          <p:cNvSpPr/>
          <p:nvPr/>
        </p:nvSpPr>
        <p:spPr>
          <a:xfrm>
            <a:off x="1778040" y="1930320"/>
            <a:ext cx="939780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1" lang="en-US" sz="2000" spc="-1" strike="noStrike">
                <a:solidFill>
                  <a:srgbClr val="1a1a1a"/>
                </a:solidFill>
                <a:latin typeface="Arial"/>
                <a:ea typeface="Microsoft JhengHei"/>
              </a:rPr>
              <a:t>① </a:t>
            </a:r>
            <a:r>
              <a:rPr b="1" lang="zh-TW" sz="2000" spc="-1" strike="noStrike">
                <a:solidFill>
                  <a:srgbClr val="1a1a1a"/>
                </a:solidFill>
                <a:latin typeface="Arial"/>
                <a:ea typeface="Microsoft JhengHei"/>
              </a:rPr>
              <a:t>驅動器通訊 </a:t>
            </a:r>
            <a:r>
              <a:rPr b="1" lang="en-US" sz="2000" spc="-1" strike="noStrike">
                <a:solidFill>
                  <a:srgbClr val="1a1a1a"/>
                </a:solidFill>
                <a:latin typeface="Arial"/>
                <a:ea typeface="Microsoft JhengHei"/>
              </a:rPr>
              <a:t>watchdog</a:t>
            </a:r>
            <a:r>
              <a:rPr b="1" lang="zh-TW" sz="2000" spc="-1" strike="noStrike">
                <a:solidFill>
                  <a:srgbClr val="1a1a1a"/>
                </a:solidFill>
                <a:latin typeface="Arial"/>
                <a:ea typeface="Microsoft JhengHei"/>
              </a:rPr>
              <a:t>（內建）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1778040" y="2489040"/>
            <a:ext cx="93978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</a:pPr>
            <a:r>
              <a:rPr b="0" lang="en-US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500ms </a:t>
            </a:r>
            <a:r>
              <a:rPr b="0" lang="zh-TW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未收到命令即煞停；控制程式 </a:t>
            </a:r>
            <a:r>
              <a:rPr b="0" lang="en-US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50Hz </a:t>
            </a:r>
            <a:r>
              <a:rPr b="0" lang="zh-TW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發送，餘裕 </a:t>
            </a:r>
            <a:r>
              <a:rPr b="0" lang="en-US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25 </a:t>
            </a:r>
            <a:r>
              <a:rPr b="0" lang="zh-TW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倍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8" name="Oval 5"/>
          <p:cNvSpPr/>
          <p:nvPr/>
        </p:nvSpPr>
        <p:spPr>
          <a:xfrm>
            <a:off x="990720" y="4572000"/>
            <a:ext cx="507600" cy="507600"/>
          </a:xfrm>
          <a:prstGeom prst="ellipse">
            <a:avLst/>
          </a:prstGeom>
          <a:solidFill>
            <a:srgbClr val="c01a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/>
          <a:p/>
        </p:txBody>
      </p:sp>
      <p:sp>
        <p:nvSpPr>
          <p:cNvPr id="79" name="TextBox 6"/>
          <p:cNvSpPr/>
          <p:nvPr/>
        </p:nvSpPr>
        <p:spPr>
          <a:xfrm>
            <a:off x="1778040" y="4533840"/>
            <a:ext cx="939780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buNone/>
            </a:pPr>
            <a:r>
              <a:rPr b="1" lang="en-US" sz="2000" spc="-1" strike="noStrike">
                <a:solidFill>
                  <a:srgbClr val="c01a1a"/>
                </a:solidFill>
                <a:latin typeface="Arial"/>
                <a:ea typeface="Microsoft JhengHei"/>
              </a:rPr>
              <a:t>② </a:t>
            </a:r>
            <a:r>
              <a:rPr b="1" lang="en-US" sz="2000" spc="-1" strike="noStrike">
                <a:solidFill>
                  <a:srgbClr val="c01a1a"/>
                </a:solidFill>
                <a:latin typeface="Arial"/>
                <a:ea typeface="Microsoft JhengHei"/>
              </a:rPr>
              <a:t>E-stop → CN4 X0 </a:t>
            </a:r>
            <a:r>
              <a:rPr b="1" lang="zh-TW" sz="2000" spc="-1" strike="noStrike">
                <a:solidFill>
                  <a:srgbClr val="c01a1a"/>
                </a:solidFill>
                <a:latin typeface="Arial"/>
                <a:ea typeface="Microsoft JhengHei"/>
              </a:rPr>
              <a:t>硬體使能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1778040" y="5092560"/>
            <a:ext cx="93978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</a:pPr>
            <a:r>
              <a:rPr b="0" lang="en-US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X0 </a:t>
            </a:r>
            <a:r>
              <a:rPr b="0" lang="zh-TW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與 </a:t>
            </a:r>
            <a:r>
              <a:rPr b="0" lang="en-US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RS232 </a:t>
            </a:r>
            <a:r>
              <a:rPr b="0" lang="zh-TW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通訊獨立；</a:t>
            </a:r>
            <a:r>
              <a:rPr b="0" lang="en-US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NC </a:t>
            </a:r>
            <a:r>
              <a:rPr b="0" lang="zh-TW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接點，斷線亦切斷動力（</a:t>
            </a:r>
            <a:r>
              <a:rPr b="0" lang="en-US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fail-safe</a:t>
            </a:r>
            <a:r>
              <a:rPr b="0" lang="zh-TW" sz="1500" spc="-1" strike="noStrike">
                <a:solidFill>
                  <a:srgbClr val="3f3f3f"/>
                </a:solidFill>
                <a:latin typeface="Arial"/>
                <a:ea typeface="Microsoft JhengHei"/>
              </a:rPr>
              <a:t>）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567000" y="311040"/>
            <a:ext cx="1106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3000" spc="-1" strike="noStrike">
                <a:solidFill>
                  <a:srgbClr val="1a1a1a"/>
                </a:solidFill>
                <a:latin typeface="Arial"/>
                <a:ea typeface="Microsoft JhengHei"/>
              </a:rPr>
              <a:t>電源時序與關機設計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67000" y="1371600"/>
            <a:ext cx="557748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接線：按鈕排針 </a:t>
            </a:r>
            <a:r>
              <a:rPr b="1" lang="en-US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1×12</a:t>
            </a:r>
            <a:r>
              <a:rPr b="1" lang="zh-CN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（</a:t>
            </a:r>
            <a:r>
              <a:rPr b="1" lang="en-US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JETSON-ORIN-IO-BASE</a:t>
            </a:r>
            <a:r>
              <a:rPr b="1" lang="zh-CN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）</a:t>
            </a:r>
            <a:endParaRPr b="0" lang="en-US" sz="1300" spc="-1" strike="noStrike">
              <a:latin typeface="Arial"/>
            </a:endParaRPr>
          </a:p>
        </p:txBody>
      </p:sp>
      <p:graphicFrame>
        <p:nvGraphicFramePr>
          <p:cNvPr id="83" name="Table 3"/>
          <p:cNvGraphicFramePr/>
          <p:nvPr/>
        </p:nvGraphicFramePr>
        <p:xfrm>
          <a:off x="567000" y="1755720"/>
          <a:ext cx="5577480" cy="1499400"/>
        </p:xfrm>
        <a:graphic>
          <a:graphicData uri="http://schemas.openxmlformats.org/drawingml/2006/table">
            <a:tbl>
              <a:tblPr/>
              <a:tblGrid>
                <a:gridCol w="1371600"/>
                <a:gridCol w="2651760"/>
                <a:gridCol w="1554480"/>
              </a:tblGrid>
              <a:tr h="34740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腳位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絲印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接法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383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pin 1 + 2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PWR BTN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／ 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GND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瞬時按鈕（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NO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pin 7 + 8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AUTO ON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／ 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DIS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保持開路（維持自動開機）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48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c01a1a"/>
                          </a:solidFill>
                          <a:latin typeface="Arial"/>
                          <a:ea typeface="Microsoft JhengHei"/>
                        </a:rPr>
                        <a:t>pin 11 + 12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c01a1a"/>
                          </a:solidFill>
                          <a:latin typeface="Arial"/>
                          <a:ea typeface="Microsoft JhengHei"/>
                        </a:rPr>
                        <a:t>LED+ </a:t>
                      </a:r>
                      <a:r>
                        <a:rPr b="0" lang="zh-CN" sz="1050" spc="-1" strike="noStrike">
                          <a:solidFill>
                            <a:srgbClr val="c01a1a"/>
                          </a:solidFill>
                          <a:latin typeface="Arial"/>
                          <a:ea typeface="Microsoft JhengHei"/>
                        </a:rPr>
                        <a:t>／ </a:t>
                      </a:r>
                      <a:r>
                        <a:rPr b="0" lang="en-US" sz="1050" spc="-1" strike="noStrike">
                          <a:solidFill>
                            <a:srgbClr val="c01a1a"/>
                          </a:solidFill>
                          <a:latin typeface="Arial"/>
                          <a:ea typeface="Microsoft JhengHei"/>
                        </a:rPr>
                        <a:t>LED−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c01a1a"/>
                          </a:solidFill>
                          <a:latin typeface="Arial"/>
                          <a:ea typeface="Microsoft JhengHei"/>
                        </a:rPr>
                        <a:t>LED + 1kΩ</a:t>
                      </a:r>
                      <a:r>
                        <a:rPr b="1" lang="zh-CN" sz="1050" spc="-1" strike="noStrike">
                          <a:solidFill>
                            <a:srgbClr val="c01a1a"/>
                          </a:solidFill>
                          <a:latin typeface="Arial"/>
                          <a:ea typeface="Microsoft JhengHei"/>
                        </a:rPr>
                        <a:t>（關機指示）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4" name="TextBox 4"/>
          <p:cNvSpPr/>
          <p:nvPr/>
        </p:nvSpPr>
        <p:spPr>
          <a:xfrm>
            <a:off x="567000" y="3429000"/>
            <a:ext cx="557748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按鍵行為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567000" y="3813120"/>
            <a:ext cx="5577480" cy="75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1360" indent="-171360">
              <a:lnSpc>
                <a:spcPct val="125000"/>
              </a:lnSpc>
              <a:spcAft>
                <a:spcPts val="601"/>
              </a:spcAft>
              <a:buClr>
                <a:srgbClr val="1a1a1a"/>
              </a:buClr>
              <a:buFont typeface="Wingdings" charset="2"/>
              <a:buChar char=""/>
            </a:pP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運行中短按 →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KEY_POWER → systemd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正常關機</a:t>
            </a:r>
            <a:endParaRPr b="0" lang="en-US" sz="1050" spc="-1" strike="noStrike">
              <a:latin typeface="Arial"/>
            </a:endParaRPr>
          </a:p>
          <a:p>
            <a:pPr marL="171360" indent="-171360">
              <a:lnSpc>
                <a:spcPct val="125000"/>
              </a:lnSpc>
              <a:spcAft>
                <a:spcPts val="601"/>
              </a:spcAft>
              <a:buClr>
                <a:srgbClr val="1a1a1a"/>
              </a:buClr>
              <a:buFont typeface="Wingdings" charset="2"/>
              <a:buChar char=""/>
            </a:pP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關機時短按 → 開機</a:t>
            </a:r>
            <a:endParaRPr b="0" lang="en-US" sz="1050" spc="-1" strike="noStrike">
              <a:latin typeface="Arial"/>
            </a:endParaRPr>
          </a:p>
          <a:p>
            <a:pPr marL="171360" indent="-171360">
              <a:lnSpc>
                <a:spcPct val="125000"/>
              </a:lnSpc>
              <a:spcAft>
                <a:spcPts val="601"/>
              </a:spcAft>
              <a:buClr>
                <a:srgbClr val="1a1a1a"/>
              </a:buClr>
              <a:buFont typeface="Wingdings" charset="2"/>
              <a:buChar char=""/>
            </a:pP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長按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~10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秒 → 硬體強制斷電（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Jetson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當機亦有效）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567000" y="5349240"/>
            <a:ext cx="55774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0" lang="zh-CN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系統須設為 </a:t>
            </a:r>
            <a:r>
              <a:rPr b="0" lang="en-US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multi-user.target </a:t>
            </a:r>
            <a:r>
              <a:rPr b="0" lang="zh-CN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電源鍵才立即生效——</a:t>
            </a:r>
            <a:r>
              <a:rPr b="0" lang="en-US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GNOME </a:t>
            </a:r>
            <a:r>
              <a:rPr b="0" lang="zh-CN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的 </a:t>
            </a:r>
            <a:r>
              <a:rPr b="0" lang="en-US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gsd-media-keys </a:t>
            </a:r>
            <a:r>
              <a:rPr b="0" lang="zh-CN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會攔截並顯示 </a:t>
            </a:r>
            <a:r>
              <a:rPr b="0" lang="en-US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60 </a:t>
            </a:r>
            <a:r>
              <a:rPr b="0" lang="zh-CN" sz="1000" spc="-1" strike="noStrike">
                <a:solidFill>
                  <a:srgbClr val="5a5a5a"/>
                </a:solidFill>
                <a:latin typeface="Arial"/>
                <a:ea typeface="Microsoft JhengHei"/>
              </a:rPr>
              <a:t>秒倒數。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6675120" y="1371600"/>
            <a:ext cx="49374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操作程序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6675120" y="1783080"/>
            <a:ext cx="4937400" cy="14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201"/>
              </a:spcAft>
              <a:buNone/>
            </a:pPr>
            <a:r>
              <a:rPr b="1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開機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25000"/>
              </a:lnSpc>
              <a:spcAft>
                <a:spcPts val="1001"/>
              </a:spcAft>
              <a:buNone/>
            </a:pP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插上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XT60 ──►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自動開機（約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30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秒到畫面）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25000"/>
              </a:lnSpc>
              <a:spcAft>
                <a:spcPts val="201"/>
              </a:spcAft>
              <a:buNone/>
            </a:pPr>
            <a:r>
              <a:rPr b="1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關機</a:t>
            </a:r>
            <a:endParaRPr b="0" lang="en-US" sz="1100" spc="-1" strike="noStrike">
              <a:latin typeface="Arial"/>
            </a:endParaRPr>
          </a:p>
          <a:p>
            <a:pPr>
              <a:lnSpc>
                <a:spcPct val="125000"/>
              </a:lnSpc>
              <a:spcAft>
                <a:spcPts val="99"/>
              </a:spcAft>
              <a:buNone/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①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按電源鍵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25000"/>
              </a:lnSpc>
              <a:spcAft>
                <a:spcPts val="99"/>
              </a:spcAft>
              <a:buNone/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②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等待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LED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熄滅、風扇停止</a:t>
            </a:r>
            <a:endParaRPr b="0" lang="en-US" sz="1050" spc="-1" strike="noStrike">
              <a:latin typeface="Arial"/>
            </a:endParaRPr>
          </a:p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③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拔除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XT60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6675120" y="3657600"/>
            <a:ext cx="49374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1300" spc="-1" strike="noStrike">
                <a:solidFill>
                  <a:srgbClr val="1a1a1a"/>
                </a:solidFill>
                <a:latin typeface="Arial"/>
                <a:ea typeface="Microsoft JhengHei"/>
              </a:rPr>
              <a:t>為何需要正常關機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6675120" y="4041720"/>
            <a:ext cx="49374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spcAft>
                <a:spcPts val="400"/>
              </a:spcAft>
              <a:buNone/>
            </a:pP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rootfs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為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ext4 on NVMe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。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XT60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直接拔除即硬斷電，存地圖／寫 </a:t>
            </a:r>
            <a:r>
              <a:rPr b="0" lang="en-US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log </a:t>
            </a:r>
            <a:r>
              <a:rPr b="0" lang="zh-CN" sz="1050" spc="-1" strike="noStrike">
                <a:solidFill>
                  <a:srgbClr val="1a1a1a"/>
                </a:solidFill>
                <a:latin typeface="Arial"/>
                <a:ea typeface="Microsoft JhengHei"/>
              </a:rPr>
              <a:t>當下斷電將損壞該檔案。</a:t>
            </a:r>
            <a:endParaRPr b="0" lang="en-US" sz="1050" spc="-1" strike="noStrike">
              <a:latin typeface="Arial"/>
            </a:endParaRPr>
          </a:p>
        </p:txBody>
      </p:sp>
      <p:sp>
        <p:nvSpPr>
          <p:cNvPr id="91" name="TextBox 11"/>
          <p:cNvSpPr/>
          <p:nvPr/>
        </p:nvSpPr>
        <p:spPr>
          <a:xfrm>
            <a:off x="6675120" y="5074920"/>
            <a:ext cx="493740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spcAft>
                <a:spcPts val="400"/>
              </a:spcAft>
              <a:buNone/>
            </a:pPr>
            <a:r>
              <a:rPr b="0" lang="zh-CN" sz="1050" spc="-1" strike="noStrike">
                <a:solidFill>
                  <a:srgbClr val="5a5a5a"/>
                </a:solidFill>
                <a:latin typeface="Arial"/>
                <a:ea typeface="Microsoft JhengHei"/>
              </a:rPr>
              <a:t>電源鍵涵蓋開關機與強制關閉，</a:t>
            </a:r>
            <a:r>
              <a:rPr b="0" lang="en-US" sz="1050" spc="-1" strike="noStrike">
                <a:solidFill>
                  <a:srgbClr val="5a5a5a"/>
                </a:solidFill>
                <a:latin typeface="Arial"/>
                <a:ea typeface="Microsoft JhengHei"/>
              </a:rPr>
              <a:t>XT60 </a:t>
            </a:r>
            <a:r>
              <a:rPr b="0" lang="zh-CN" sz="1050" spc="-1" strike="noStrike">
                <a:solidFill>
                  <a:srgbClr val="5a5a5a"/>
                </a:solidFill>
                <a:latin typeface="Arial"/>
                <a:ea typeface="Microsoft JhengHei"/>
              </a:rPr>
              <a:t>負責完全斷電，故系統不另設電源開關。</a:t>
            </a:r>
            <a:endParaRPr b="0" lang="en-US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567000" y="311040"/>
            <a:ext cx="1106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zh-CN" sz="3000" spc="-1" strike="noStrike">
                <a:solidFill>
                  <a:srgbClr val="1a1a1a"/>
                </a:solidFill>
                <a:latin typeface="Arial"/>
                <a:ea typeface="Microsoft JhengHei"/>
              </a:rPr>
              <a:t>散熱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93" name="Table 2"/>
          <p:cNvGraphicFramePr/>
          <p:nvPr/>
        </p:nvGraphicFramePr>
        <p:xfrm>
          <a:off x="567000" y="1371600"/>
          <a:ext cx="6857640" cy="204804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2834640"/>
              </a:tblGrid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熱源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發熱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對策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42048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Jetson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系統（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25W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模式）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~35W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板載風扇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馬達驅動器 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AGV-BLD-2S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~5–20W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鎖於 ≥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140×90mm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金屬底板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XL4016 </a:t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降壓模組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~4W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散熱片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84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箱內合計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~44W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視機箱密閉度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4" name="TextBox 3"/>
          <p:cNvSpPr/>
          <p:nvPr/>
        </p:nvSpPr>
        <p:spPr>
          <a:xfrm>
            <a:off x="567000" y="3886200"/>
            <a:ext cx="6857640" cy="80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71360" indent="-171360">
              <a:lnSpc>
                <a:spcPct val="125000"/>
              </a:lnSpc>
              <a:spcAft>
                <a:spcPts val="700"/>
              </a:spcAft>
              <a:buClr>
                <a:srgbClr val="1a1a1a"/>
              </a:buClr>
              <a:buFont typeface="Wingdings" charset="2"/>
              <a:buChar char=""/>
            </a:pP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實測 ：閒置 45°C ／ CPU 滿載 52°C（節流 95°C／臨界 104°C）</a:t>
            </a:r>
            <a:r>
              <a:rPr b="0" lang="en-US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r>
              <a:rPr b="0" lang="en-US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r>
              <a:rPr b="0" lang="en-US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r>
              <a:rPr b="0" lang="en-US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/>
            </a:r>
            <a:endParaRPr b="0" lang="en-US" sz="1100" spc="-1" strike="noStrike">
              <a:latin typeface="Arial"/>
            </a:endParaRPr>
          </a:p>
          <a:p>
            <a:pPr marL="171360" indent="-171360">
              <a:lnSpc>
                <a:spcPct val="125000"/>
              </a:lnSpc>
              <a:spcAft>
                <a:spcPts val="700"/>
              </a:spcAft>
              <a:buClr>
                <a:srgbClr val="1a1a1a"/>
              </a:buClr>
              <a:buFont typeface="Wingdings" charset="2"/>
              <a:buChar char=""/>
            </a:pP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機箱開放或通風 → 不需風扇；完全密閉 → 加 </a:t>
            </a:r>
            <a:r>
              <a:rPr b="0" lang="en-US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12V 80mm </a:t>
            </a: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排風扇</a:t>
            </a:r>
            <a:endParaRPr b="0" lang="en-US" sz="1100" spc="-1" strike="noStrike">
              <a:latin typeface="Arial"/>
            </a:endParaRPr>
          </a:p>
          <a:p>
            <a:pPr marL="171360" indent="-171360">
              <a:lnSpc>
                <a:spcPct val="125000"/>
              </a:lnSpc>
              <a:spcAft>
                <a:spcPts val="700"/>
              </a:spcAft>
              <a:buClr>
                <a:srgbClr val="1a1a1a"/>
              </a:buClr>
              <a:buFont typeface="Wingdings" charset="2"/>
              <a:buChar char=""/>
            </a:pP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驅動器 </a:t>
            </a:r>
            <a:r>
              <a:rPr b="0" lang="en-US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IP00</a:t>
            </a: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，須裝於機箱內，周邊留 </a:t>
            </a:r>
            <a:r>
              <a:rPr b="0" lang="en-US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2cm </a:t>
            </a:r>
            <a:r>
              <a:rPr b="0" lang="zh-CN" sz="1100" spc="-1" strike="noStrike">
                <a:solidFill>
                  <a:srgbClr val="1a1a1a"/>
                </a:solidFill>
                <a:latin typeface="Arial"/>
                <a:ea typeface="Microsoft JhengHei"/>
              </a:rPr>
              <a:t>通風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567000" y="311040"/>
            <a:ext cx="110638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5000"/>
              </a:lnSpc>
              <a:spcAft>
                <a:spcPts val="400"/>
              </a:spcAft>
              <a:buNone/>
            </a:pPr>
            <a:r>
              <a:rPr b="1" lang="en-US" sz="3000" spc="-1" strike="noStrike">
                <a:solidFill>
                  <a:srgbClr val="1a1a1a"/>
                </a:solidFill>
                <a:latin typeface="Arial"/>
                <a:ea typeface="Microsoft JhengHei"/>
              </a:rPr>
              <a:t>BOM </a:t>
            </a:r>
            <a:r>
              <a:rPr b="1" lang="zh-CN" sz="3000" spc="-1" strike="noStrike">
                <a:solidFill>
                  <a:srgbClr val="1a1a1a"/>
                </a:solidFill>
                <a:latin typeface="Arial"/>
                <a:ea typeface="Microsoft JhengHei"/>
              </a:rPr>
              <a:t>與成本</a:t>
            </a:r>
            <a:endParaRPr b="0" lang="en-US" sz="3000" spc="-1" strike="noStrike">
              <a:latin typeface="Arial"/>
            </a:endParaRPr>
          </a:p>
        </p:txBody>
      </p:sp>
      <p:graphicFrame>
        <p:nvGraphicFramePr>
          <p:cNvPr id="96" name="Table 2"/>
          <p:cNvGraphicFramePr/>
          <p:nvPr/>
        </p:nvGraphicFramePr>
        <p:xfrm>
          <a:off x="3078360" y="1371600"/>
          <a:ext cx="6034680" cy="3620520"/>
        </p:xfrm>
        <a:graphic>
          <a:graphicData uri="http://schemas.openxmlformats.org/drawingml/2006/table">
            <a:tbl>
              <a:tblPr/>
              <a:tblGrid>
                <a:gridCol w="3383280"/>
                <a:gridCol w="1463040"/>
                <a:gridCol w="1188720"/>
              </a:tblGrid>
              <a:tr h="32904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分類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金額 (NT$)</a:t>
                      </a:r>
                      <a:r>
                        <a:rPr b="1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/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占比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deded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感測器／下位機（HC-SR04P ×8）</a:t>
                      </a: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/>
                      </a: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/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400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25%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線材（12/16 AWG・4 芯排線）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396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24%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端子／耗材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338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21%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安全／控制（急停按鈕）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180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11%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電源主幹（保險絲・座）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175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11%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電壓轉換（XL4016）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86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5%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保護元件（TVS・電容）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43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3%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充電（充電器暫緩）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0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—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63360" rIns="63360" tIns="12600" bIns="126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材料合計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1,618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360" rIns="63360" tIns="12600" bIns="126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1a1a1a"/>
                          </a:solidFill>
                          <a:latin typeface="Arial"/>
                          <a:ea typeface="Microsoft JhengHei"/>
                        </a:rPr>
                        <a:t>100%</a:t>
                      </a:r>
                      <a:endParaRPr b="0" lang="en-US" sz="1050" spc="-1" strike="noStrike">
                        <a:latin typeface="Arial"/>
                      </a:endParaRPr>
                    </a:p>
                  </a:txBody>
                  <a:tcPr anchor="ctr" marL="63360" marR="63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TextBox 6"/>
          <p:cNvSpPr/>
          <p:nvPr/>
        </p:nvSpPr>
        <p:spPr>
          <a:xfrm>
            <a:off x="567000" y="5266800"/>
            <a:ext cx="6034680" cy="1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spcAft>
                <a:spcPts val="400"/>
              </a:spcAft>
              <a:buNone/>
            </a:pPr>
            <a:r>
              <a:rPr b="0" lang="zh-CN" sz="950" spc="-1" strike="noStrike">
                <a:solidFill>
                  <a:srgbClr val="5a5a5a"/>
                </a:solidFill>
                <a:latin typeface="Arial"/>
                <a:ea typeface="Microsoft JhengHei"/>
              </a:rPr>
              <a:t>完整明細見 boom.xlsx（26 項）。壓接工具已有，未計入。充電器暫緩，之後討論。</a:t>
            </a:r>
            <a:r>
              <a:rPr b="0" lang="en-US" sz="950" spc="-1" strike="noStrike">
                <a:solidFill>
                  <a:srgbClr val="5a5a5a"/>
                </a:solidFill>
                <a:latin typeface="Arial"/>
                <a:ea typeface="Microsoft JhengHei"/>
              </a:rPr>
              <a:t/>
            </a:r>
            <a:r>
              <a:rPr b="0" lang="zh-CN" sz="950" spc="-1" strike="noStrike">
                <a:solidFill>
                  <a:srgbClr val="5a5a5a"/>
                </a:solidFill>
                <a:latin typeface="Arial"/>
                <a:ea typeface="Microsoft JhengHei"/>
              </a:rPr>
              <a:t/>
            </a:r>
            <a:r>
              <a:rPr b="0" lang="en-US" sz="950" spc="-1" strike="noStrike">
                <a:solidFill>
                  <a:srgbClr val="5a5a5a"/>
                </a:solidFill>
                <a:latin typeface="Arial"/>
                <a:ea typeface="Microsoft JhengHei"/>
              </a:rPr>
              <a:t/>
            </a:r>
            <a:r>
              <a:rPr b="0" lang="zh-CN" sz="950" spc="-1" strike="noStrike">
                <a:solidFill>
                  <a:srgbClr val="5a5a5a"/>
                </a:solidFill>
                <a:latin typeface="Arial"/>
                <a:ea typeface="Microsoft JhengHei"/>
              </a:rPr>
              <a:t/>
            </a:r>
            <a:endParaRPr b="0" lang="en-US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LibreOffice/7.3.7.2$Linux_AARCH64 LibreOffice_project/30$Build-2</Application>
  <AppVersion>15.0000</AppVersion>
  <Words>610</Words>
  <Paragraphs>159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2026-07-29T11:01:09Z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寬螢幕</vt:lpwstr>
  </property>
  <property fmtid="{D5CDD505-2E9C-101B-9397-08002B2CF9AE}" pid="3" name="Slides">
    <vt:i4>8</vt:i4>
  </property>
</Properties>
</file>